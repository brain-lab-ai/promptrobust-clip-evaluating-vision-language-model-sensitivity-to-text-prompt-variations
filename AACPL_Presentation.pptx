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2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8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9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9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7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5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24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09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71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18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5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6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07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247" y="1085549"/>
            <a:ext cx="343094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Attribute-Aware Consistency Prompt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399" y="1085549"/>
            <a:ext cx="557970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/>
              <a:t>Basel Alzahrani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/>
              <a:t>Supervisor: Dr. Muzammil Behzad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/>
              <a:t>KFUPM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CLIP is strong zero-shot but prompts can be suboptimal.</a:t>
            </a:r>
          </a:p>
          <a:p>
            <a:pPr>
              <a:spcAft>
                <a:spcPts val="800"/>
              </a:spcAft>
            </a:pPr>
            <a:r>
              <a:rPr sz="2000"/>
              <a:t>CoOp / CoCoOp learn prompts for adaptation.</a:t>
            </a:r>
          </a:p>
          <a:p>
            <a:pPr>
              <a:spcAft>
                <a:spcPts val="800"/>
              </a:spcAft>
            </a:pPr>
            <a:r>
              <a:rPr sz="2000"/>
              <a:t>Few-shot settings can be unstable.</a:t>
            </a:r>
          </a:p>
          <a:p>
            <a:pPr>
              <a:spcAft>
                <a:spcPts val="800"/>
              </a:spcAft>
            </a:pPr>
            <a:r>
              <a:rPr sz="2000"/>
              <a:t>Need lightweight gains without changing image encoder.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AF4A-C405-7B44-A70B-4339B70CE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A8501-EB3A-EC87-54A5-AACDD668F281}"/>
              </a:ext>
            </a:extLst>
          </p:cNvPr>
          <p:cNvSpPr txBox="1"/>
          <p:nvPr/>
        </p:nvSpPr>
        <p:spPr>
          <a:xfrm>
            <a:off x="182880" y="45720"/>
            <a:ext cx="15327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/>
              <a:t>Baseline</a:t>
            </a:r>
            <a:endParaRPr sz="2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60411-96EB-E0AE-2062-0EB10717E7C3}"/>
              </a:ext>
            </a:extLst>
          </p:cNvPr>
          <p:cNvSpPr txBox="1"/>
          <p:nvPr/>
        </p:nvSpPr>
        <p:spPr>
          <a:xfrm>
            <a:off x="365760" y="1097280"/>
            <a:ext cx="8414483" cy="30675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/>
              <a:t>CoOp</a:t>
            </a:r>
            <a:r>
              <a:rPr lang="en-US" sz="2000" b="1" dirty="0"/>
              <a:t> (Context Optimization)</a:t>
            </a:r>
          </a:p>
          <a:p>
            <a:r>
              <a:rPr lang="en-US" sz="2000" dirty="0"/>
              <a:t>Learns </a:t>
            </a:r>
            <a:r>
              <a:rPr lang="en-US" sz="2000" b="1" dirty="0"/>
              <a:t>prompt context tokens</a:t>
            </a:r>
            <a:r>
              <a:rPr lang="en-US" sz="2000" dirty="0"/>
              <a:t> instead of manually writing prompts.</a:t>
            </a:r>
          </a:p>
          <a:p>
            <a:pPr>
              <a:spcAft>
                <a:spcPts val="800"/>
              </a:spcAft>
            </a:pPr>
            <a:endParaRPr lang="en-US" sz="2000" dirty="0"/>
          </a:p>
          <a:p>
            <a:r>
              <a:rPr lang="en-US" sz="2000" b="1" dirty="0" err="1"/>
              <a:t>CoCoOp</a:t>
            </a:r>
            <a:r>
              <a:rPr lang="en-US" sz="2000" b="1" dirty="0"/>
              <a:t> (Conditional </a:t>
            </a:r>
            <a:r>
              <a:rPr lang="en-US" sz="2000" b="1" dirty="0" err="1"/>
              <a:t>CoOp</a:t>
            </a:r>
            <a:r>
              <a:rPr lang="en-US" sz="2000" b="1" dirty="0"/>
              <a:t>)</a:t>
            </a:r>
          </a:p>
          <a:p>
            <a:r>
              <a:rPr lang="en-US" sz="2000" dirty="0"/>
              <a:t>Extends </a:t>
            </a:r>
            <a:r>
              <a:rPr lang="en-US" sz="2000" dirty="0" err="1"/>
              <a:t>CoOp</a:t>
            </a:r>
            <a:r>
              <a:rPr lang="en-US" sz="2000" dirty="0"/>
              <a:t> by making prompts </a:t>
            </a:r>
            <a:r>
              <a:rPr lang="en-US" sz="2000" b="1" dirty="0"/>
              <a:t>image-conditioned</a:t>
            </a:r>
            <a:r>
              <a:rPr lang="en-US" sz="2000" dirty="0"/>
              <a:t>. </a:t>
            </a:r>
          </a:p>
          <a:p>
            <a:r>
              <a:rPr lang="en-US" sz="2000" dirty="0"/>
              <a:t>Uses image features to generate adaptive prompt tokens. </a:t>
            </a:r>
          </a:p>
          <a:p>
            <a:r>
              <a:rPr lang="en-US" sz="2000" dirty="0"/>
              <a:t>Different images receive different prompts.</a:t>
            </a:r>
          </a:p>
          <a:p>
            <a:pPr>
              <a:spcAft>
                <a:spcPts val="800"/>
              </a:spcAft>
            </a:pPr>
            <a:endParaRPr lang="en-US" sz="2000" dirty="0"/>
          </a:p>
          <a:p>
            <a:pPr>
              <a:spcAft>
                <a:spcPts val="8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768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/>
              <a:t>Proposed Method (AACPL)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dirty="0"/>
              <a:t>1. Attribute-aware prompts (richer class descriptions).</a:t>
            </a:r>
          </a:p>
          <a:p>
            <a:pPr>
              <a:spcAft>
                <a:spcPts val="800"/>
              </a:spcAft>
            </a:pPr>
            <a:r>
              <a:rPr lang="en-US" sz="2000" dirty="0"/>
              <a:t>2. Dual prompt branches with different templates.</a:t>
            </a:r>
          </a:p>
          <a:p>
            <a:pPr>
              <a:spcAft>
                <a:spcPts val="800"/>
              </a:spcAft>
            </a:pPr>
            <a:r>
              <a:rPr lang="en-US" sz="2000" dirty="0"/>
              <a:t>3. One-way KL consistency: branch 1 → branch 2.</a:t>
            </a:r>
          </a:p>
          <a:p>
            <a:pPr>
              <a:spcAft>
                <a:spcPts val="800"/>
              </a:spcAft>
            </a:pPr>
            <a:r>
              <a:rPr lang="en-US" sz="2000" dirty="0"/>
              <a:t>4. Test-time logit averaging + temperature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Training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935518" cy="12208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/>
              <a:t>L = CE(y1) + CE(y2) + λ </a:t>
            </a:r>
            <a:r>
              <a:rPr sz="2000" dirty="0" err="1"/>
              <a:t>L_cons</a:t>
            </a:r>
            <a:endParaRPr sz="2000" dirty="0"/>
          </a:p>
          <a:p>
            <a:pPr>
              <a:spcAft>
                <a:spcPts val="800"/>
              </a:spcAft>
            </a:pPr>
            <a:r>
              <a:rPr sz="2000" dirty="0" err="1"/>
              <a:t>L_cons</a:t>
            </a:r>
            <a:r>
              <a:rPr sz="2000" dirty="0"/>
              <a:t> = KL( </a:t>
            </a:r>
            <a:r>
              <a:rPr sz="2000" dirty="0" err="1"/>
              <a:t>softmax</a:t>
            </a:r>
            <a:r>
              <a:rPr sz="2000" dirty="0"/>
              <a:t>(y1/T) || </a:t>
            </a:r>
            <a:r>
              <a:rPr sz="2000" dirty="0" err="1"/>
              <a:t>softmax</a:t>
            </a:r>
            <a:r>
              <a:rPr sz="2000" dirty="0"/>
              <a:t>(y2/T) )</a:t>
            </a:r>
          </a:p>
          <a:p>
            <a:pPr>
              <a:spcAft>
                <a:spcPts val="800"/>
              </a:spcAft>
            </a:pP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Dataset: OxfordPets</a:t>
            </a:r>
          </a:p>
          <a:p>
            <a:pPr>
              <a:spcAft>
                <a:spcPts val="800"/>
              </a:spcAft>
            </a:pPr>
            <a:r>
              <a:rPr sz="2000"/>
              <a:t>16-shot base-class protocol</a:t>
            </a:r>
          </a:p>
          <a:p>
            <a:pPr>
              <a:spcAft>
                <a:spcPts val="800"/>
              </a:spcAft>
            </a:pPr>
            <a:r>
              <a:rPr sz="2000"/>
              <a:t>Backbone: CLIP ViT-B/16</a:t>
            </a:r>
          </a:p>
          <a:p>
            <a:pPr>
              <a:spcAft>
                <a:spcPts val="800"/>
              </a:spcAft>
            </a:pPr>
            <a:r>
              <a:rPr sz="2000"/>
              <a:t>Epochs: 10, Seed: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CoCoOp Baseline: 94.8%</a:t>
            </a:r>
          </a:p>
          <a:p>
            <a:pPr>
              <a:spcAft>
                <a:spcPts val="800"/>
              </a:spcAft>
            </a:pPr>
            <a:r>
              <a:rPr sz="2000"/>
              <a:t>Consistency Prompt Learning: 95.5%</a:t>
            </a:r>
          </a:p>
          <a:p>
            <a:pPr>
              <a:spcAft>
                <a:spcPts val="800"/>
              </a:spcAft>
            </a:pPr>
            <a:r>
              <a:rPr sz="2000"/>
              <a:t>AACPL (Final): 96.0%</a:t>
            </a:r>
          </a:p>
          <a:p>
            <a:pPr>
              <a:spcAft>
                <a:spcPts val="800"/>
              </a:spcAft>
            </a:pPr>
            <a:r>
              <a:rPr sz="2000"/>
              <a:t>Improvement over baseline: +1.2%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6960560" cy="810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/>
              <a:t>AACPL improves </a:t>
            </a:r>
            <a:r>
              <a:rPr sz="2000" dirty="0" err="1"/>
              <a:t>CoCoOp</a:t>
            </a:r>
            <a:r>
              <a:rPr sz="2000" dirty="0"/>
              <a:t> with minimal overhead.</a:t>
            </a:r>
          </a:p>
          <a:p>
            <a:pPr>
              <a:spcAft>
                <a:spcPts val="800"/>
              </a:spcAft>
            </a:pPr>
            <a:r>
              <a:rPr sz="2000" dirty="0"/>
              <a:t>Better semantic prompts + stable dual-branch training.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</TotalTime>
  <Words>233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BASEL SAEED ALZAHRANI</cp:lastModifiedBy>
  <cp:revision>2</cp:revision>
  <dcterms:created xsi:type="dcterms:W3CDTF">2013-01-27T09:14:16Z</dcterms:created>
  <dcterms:modified xsi:type="dcterms:W3CDTF">2026-04-26T23:17:10Z</dcterms:modified>
  <cp:category/>
</cp:coreProperties>
</file>