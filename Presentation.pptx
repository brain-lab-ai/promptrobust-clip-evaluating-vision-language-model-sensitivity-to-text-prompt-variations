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9" r:id="rId4"/>
    <p:sldId id="258" r:id="rId5"/>
    <p:sldId id="265" r:id="rId6"/>
    <p:sldId id="266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2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8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99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6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7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9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7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5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24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2091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71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18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35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36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6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079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6247" y="1085549"/>
            <a:ext cx="3430947" cy="4686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Attribute-Aware Consistency Prompt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399" y="1085549"/>
            <a:ext cx="5579707" cy="4686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/>
              <a:t>Basel </a:t>
            </a:r>
            <a:r>
              <a:rPr lang="en-US" dirty="0" err="1"/>
              <a:t>Alzahrani</a:t>
            </a:r>
            <a:endParaRPr lang="en-US" dirty="0"/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/>
              <a:t>202178710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212429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/>
              <a:t>Introduction</a:t>
            </a:r>
            <a:endParaRPr sz="2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68204" cy="23391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Large pretrained vision-language models have become an important paradigm in modern machine</a:t>
            </a:r>
          </a:p>
          <a:p>
            <a:r>
              <a:rPr lang="en-US" dirty="0"/>
              <a:t>learning. CLIP learns aligned image-text representations from large-scale web data and enables</a:t>
            </a:r>
          </a:p>
          <a:p>
            <a:r>
              <a:rPr lang="en-US" dirty="0"/>
              <a:t>zero-shot recognition by comparing images to textual prompts. Although effective, hand-crafted</a:t>
            </a:r>
          </a:p>
          <a:p>
            <a:r>
              <a:rPr lang="en-US" dirty="0"/>
              <a:t>prompts such as “a photo of a dog” are suboptimal for many datasets.</a:t>
            </a:r>
          </a:p>
          <a:p>
            <a:endParaRPr lang="en-US" sz="2000" dirty="0"/>
          </a:p>
          <a:p>
            <a:r>
              <a:rPr lang="en-US" dirty="0"/>
              <a:t>Prompt learning methods address this issue by optimizing learnable context vectors while freezing</a:t>
            </a:r>
          </a:p>
          <a:p>
            <a:r>
              <a:rPr lang="en-US" dirty="0"/>
              <a:t>the pretrained backbone. </a:t>
            </a:r>
            <a:r>
              <a:rPr lang="en-US" dirty="0" err="1"/>
              <a:t>CoOp</a:t>
            </a:r>
            <a:r>
              <a:rPr lang="en-US" dirty="0"/>
              <a:t> learns static prompts, while </a:t>
            </a:r>
            <a:r>
              <a:rPr lang="en-US" dirty="0" err="1"/>
              <a:t>CoCoOp</a:t>
            </a:r>
            <a:r>
              <a:rPr lang="en-US" dirty="0"/>
              <a:t> improves generalization</a:t>
            </a:r>
          </a:p>
          <a:p>
            <a:r>
              <a:rPr lang="en-US" dirty="0"/>
              <a:t>by conditioning prompts on image features. These methods significantly improve few-shot transfer.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233108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/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11933075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/>
              <a:t>Vision-Language Pretraining:</a:t>
            </a:r>
            <a:r>
              <a:rPr lang="en-US" dirty="0"/>
              <a:t> CLIP demonstrated that contrastive pretraining on image-text</a:t>
            </a:r>
          </a:p>
          <a:p>
            <a:r>
              <a:rPr lang="en-US" dirty="0"/>
              <a:t>pairs enables transferable visual representations.</a:t>
            </a:r>
          </a:p>
          <a:p>
            <a:endParaRPr lang="en-US" dirty="0"/>
          </a:p>
          <a:p>
            <a:r>
              <a:rPr lang="en-US" b="1" dirty="0"/>
              <a:t>Prompt Learning:</a:t>
            </a:r>
            <a:r>
              <a:rPr lang="en-US" dirty="0"/>
              <a:t> </a:t>
            </a:r>
            <a:r>
              <a:rPr lang="en-US" dirty="0" err="1"/>
              <a:t>CoOp</a:t>
            </a:r>
            <a:r>
              <a:rPr lang="en-US" dirty="0"/>
              <a:t> introduced learnable context vectors that replace manually engineered</a:t>
            </a:r>
          </a:p>
          <a:p>
            <a:r>
              <a:rPr lang="en-US" dirty="0"/>
              <a:t>prompts. </a:t>
            </a:r>
            <a:r>
              <a:rPr lang="en-US" dirty="0" err="1"/>
              <a:t>CoCoOp</a:t>
            </a:r>
            <a:r>
              <a:rPr lang="en-US" dirty="0"/>
              <a:t> further conditions prompts on input image features, improving robustness to</a:t>
            </a:r>
          </a:p>
          <a:p>
            <a:r>
              <a:rPr lang="en-US" dirty="0"/>
              <a:t>distribution shift and unseen classes.</a:t>
            </a:r>
          </a:p>
          <a:p>
            <a:endParaRPr lang="en-US" b="1" dirty="0"/>
          </a:p>
          <a:p>
            <a:r>
              <a:rPr lang="en-US" b="1" dirty="0"/>
              <a:t>Consistency Regularization:</a:t>
            </a:r>
            <a:r>
              <a:rPr lang="en-US" dirty="0"/>
              <a:t> Consistency regularization has been widely explored in robust and</a:t>
            </a:r>
          </a:p>
          <a:p>
            <a:r>
              <a:rPr lang="en-US" dirty="0"/>
              <a:t>semi-supervised learning settings, where multiple predictors or views are encouraged to produce</a:t>
            </a:r>
          </a:p>
          <a:p>
            <a:r>
              <a:rPr lang="en-US" dirty="0"/>
              <a:t>consistent outputs.</a:t>
            </a:r>
          </a:p>
          <a:p>
            <a:endParaRPr lang="en-US" dirty="0"/>
          </a:p>
          <a:p>
            <a:r>
              <a:rPr lang="en-US" dirty="0"/>
              <a:t>Our work combines prompt learning with semantic prompt augmentation and consistency regularization.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44462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/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524309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b="1" i="0" u="none" strike="noStrike" baseline="0" dirty="0">
                <a:latin typeface="+mj-lt"/>
              </a:rPr>
              <a:t>Baseline: </a:t>
            </a:r>
            <a:r>
              <a:rPr lang="en-US" b="1" i="0" u="none" strike="noStrike" baseline="0" dirty="0" err="1">
                <a:latin typeface="+mj-lt"/>
              </a:rPr>
              <a:t>CoCoOp</a:t>
            </a:r>
            <a:endParaRPr lang="en-US" b="1" i="0" u="none" strike="noStrike" baseline="0" dirty="0">
              <a:latin typeface="+mj-lt"/>
            </a:endParaRPr>
          </a:p>
          <a:p>
            <a:pPr algn="l"/>
            <a:r>
              <a:rPr lang="en-US" b="0" i="0" u="none" strike="noStrike" baseline="0" dirty="0">
                <a:latin typeface="+mj-lt"/>
              </a:rPr>
              <a:t>Given image x, CLIP image encoder f(・) produces visual features:</a:t>
            </a:r>
          </a:p>
          <a:p>
            <a:pPr algn="l"/>
            <a:r>
              <a:rPr lang="en-US" b="0" i="0" u="none" strike="noStrike" baseline="0" dirty="0">
                <a:latin typeface="+mj-lt"/>
              </a:rPr>
              <a:t>z = f(x)</a:t>
            </a:r>
          </a:p>
          <a:p>
            <a:pPr algn="l"/>
            <a:r>
              <a:rPr lang="en-US" b="0" i="0" u="none" strike="noStrike" baseline="0" dirty="0" err="1">
                <a:latin typeface="+mj-lt"/>
              </a:rPr>
              <a:t>CoCoOp</a:t>
            </a:r>
            <a:r>
              <a:rPr lang="en-US" b="0" i="0" u="none" strike="noStrike" baseline="0" dirty="0">
                <a:latin typeface="+mj-lt"/>
              </a:rPr>
              <a:t> generates conditional prompt tokens using a meta-network and computes class logits using</a:t>
            </a:r>
          </a:p>
          <a:p>
            <a:pPr algn="l"/>
            <a:r>
              <a:rPr lang="en-US" b="0" i="0" u="none" strike="noStrike" baseline="0" dirty="0">
                <a:latin typeface="+mj-lt"/>
              </a:rPr>
              <a:t>the frozen text encoder.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7F4DB-EDCD-9A1C-C746-05C90549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D2844A-4982-3C54-E394-80A69A6CE3F5}"/>
              </a:ext>
            </a:extLst>
          </p:cNvPr>
          <p:cNvSpPr txBox="1"/>
          <p:nvPr/>
        </p:nvSpPr>
        <p:spPr>
          <a:xfrm>
            <a:off x="182880" y="45720"/>
            <a:ext cx="144462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/>
              <a:t>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620E1-93D1-A670-3992-8882EEDE6A8E}"/>
              </a:ext>
            </a:extLst>
          </p:cNvPr>
          <p:cNvSpPr txBox="1"/>
          <p:nvPr/>
        </p:nvSpPr>
        <p:spPr>
          <a:xfrm>
            <a:off x="365760" y="1097280"/>
            <a:ext cx="9666429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/>
              <a:t>Attribute-Aware Prompt Construction</a:t>
            </a:r>
          </a:p>
          <a:p>
            <a:r>
              <a:rPr lang="en-US" dirty="0"/>
              <a:t>Instead of using only class names, we augment each class with semantic descriptors.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• Persian→ “Persian, fluffy long-haired flat-faced cat”</a:t>
            </a:r>
          </a:p>
          <a:p>
            <a:r>
              <a:rPr lang="en-US" dirty="0"/>
              <a:t>• Bengal → “Bengal, spotted short-haired cat”</a:t>
            </a:r>
          </a:p>
          <a:p>
            <a:r>
              <a:rPr lang="en-US" dirty="0"/>
              <a:t>• Pug → “Pug, small wrinkled flat-faced dog”</a:t>
            </a:r>
          </a:p>
          <a:p>
            <a:r>
              <a:rPr lang="en-US" dirty="0"/>
              <a:t>This provides richer language supervision aligned with CLIP pretraining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4198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D1C8C-E0E6-0368-B62C-CCA40746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517835-3736-3D08-2B40-BDD9648B7439}"/>
              </a:ext>
            </a:extLst>
          </p:cNvPr>
          <p:cNvSpPr txBox="1"/>
          <p:nvPr/>
        </p:nvSpPr>
        <p:spPr>
          <a:xfrm>
            <a:off x="182880" y="45720"/>
            <a:ext cx="144462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/>
              <a:t>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3B8E6-379B-7B2A-30F9-4F810F3D5ABE}"/>
              </a:ext>
            </a:extLst>
          </p:cNvPr>
          <p:cNvSpPr txBox="1"/>
          <p:nvPr/>
        </p:nvSpPr>
        <p:spPr>
          <a:xfrm>
            <a:off x="365760" y="1097280"/>
            <a:ext cx="8369599" cy="42473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/>
              <a:t>Dual Prompt Branches</a:t>
            </a:r>
          </a:p>
          <a:p>
            <a:r>
              <a:rPr lang="en-US" dirty="0"/>
              <a:t>We learn two prompt branches initialized with different textual templates:</a:t>
            </a:r>
          </a:p>
          <a:p>
            <a:r>
              <a:rPr lang="en-US" dirty="0"/>
              <a:t>T1 : “a photo of a”</a:t>
            </a:r>
          </a:p>
          <a:p>
            <a:r>
              <a:rPr lang="en-US" dirty="0"/>
              <a:t>T2 : “a blurry photo of a”</a:t>
            </a:r>
          </a:p>
          <a:p>
            <a:r>
              <a:rPr lang="en-US" dirty="0"/>
              <a:t>Each branch outputs logits:y1, y2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/>
              <a:t>Consistency Regularization</a:t>
            </a:r>
          </a:p>
          <a:p>
            <a:r>
              <a:rPr lang="en-US" dirty="0"/>
              <a:t>We apply one-way KL consistency from branch 1 to branch 2:</a:t>
            </a:r>
          </a:p>
          <a:p>
            <a:r>
              <a:rPr lang="fr-FR" dirty="0" err="1"/>
              <a:t>Lcons</a:t>
            </a:r>
            <a:r>
              <a:rPr lang="fr-FR" dirty="0"/>
              <a:t> = DKL (</a:t>
            </a:r>
            <a:r>
              <a:rPr lang="fr-FR" dirty="0" err="1"/>
              <a:t>softmax</a:t>
            </a:r>
            <a:r>
              <a:rPr lang="fr-FR" dirty="0"/>
              <a:t>(y1/T ) ∥ </a:t>
            </a:r>
            <a:r>
              <a:rPr lang="fr-FR" dirty="0" err="1"/>
              <a:t>softmax</a:t>
            </a:r>
            <a:r>
              <a:rPr lang="fr-FR" dirty="0"/>
              <a:t>(y2/T ))</a:t>
            </a:r>
          </a:p>
          <a:p>
            <a:endParaRPr lang="fr-FR" dirty="0">
              <a:latin typeface="+mj-lt"/>
            </a:endParaRPr>
          </a:p>
          <a:p>
            <a:r>
              <a:rPr lang="en-US" b="1" dirty="0"/>
              <a:t>Inference</a:t>
            </a:r>
          </a:p>
          <a:p>
            <a:r>
              <a:rPr lang="en-US" dirty="0"/>
              <a:t>At test time, logits from both prompt branches are averaged:</a:t>
            </a:r>
          </a:p>
          <a:p>
            <a:r>
              <a:rPr lang="en-US" dirty="0"/>
              <a:t>y =</a:t>
            </a:r>
          </a:p>
          <a:p>
            <a:r>
              <a:rPr lang="en-US" dirty="0"/>
              <a:t>(y1 + y2)/2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442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Dataset: OxfordPets</a:t>
            </a:r>
          </a:p>
          <a:p>
            <a:pPr>
              <a:spcAft>
                <a:spcPts val="800"/>
              </a:spcAft>
            </a:pPr>
            <a:r>
              <a:rPr sz="2000"/>
              <a:t>16-shot base-class protocol</a:t>
            </a:r>
          </a:p>
          <a:p>
            <a:pPr>
              <a:spcAft>
                <a:spcPts val="800"/>
              </a:spcAft>
            </a:pPr>
            <a:r>
              <a:rPr sz="2000"/>
              <a:t>Backbone: CLIP ViT-B/16</a:t>
            </a:r>
          </a:p>
          <a:p>
            <a:pPr>
              <a:spcAft>
                <a:spcPts val="800"/>
              </a:spcAft>
            </a:pPr>
            <a:r>
              <a:rPr sz="2000"/>
              <a:t>Epochs: 10, Seed: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4637808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 err="1"/>
              <a:t>CoCoOp</a:t>
            </a:r>
            <a:r>
              <a:rPr sz="2000" dirty="0"/>
              <a:t> Baseline: 94.8%</a:t>
            </a:r>
          </a:p>
          <a:p>
            <a:pPr>
              <a:spcAft>
                <a:spcPts val="800"/>
              </a:spcAft>
            </a:pPr>
            <a:r>
              <a:rPr sz="2000" dirty="0"/>
              <a:t>Consistency Prompt Learning: 95.5%</a:t>
            </a:r>
          </a:p>
          <a:p>
            <a:pPr>
              <a:spcAft>
                <a:spcPts val="800"/>
              </a:spcAft>
            </a:pPr>
            <a:r>
              <a:rPr sz="2000" dirty="0"/>
              <a:t>AACPL : 96.0%</a:t>
            </a:r>
          </a:p>
          <a:p>
            <a:pPr>
              <a:spcAft>
                <a:spcPts val="800"/>
              </a:spcAft>
            </a:pPr>
            <a:r>
              <a:rPr sz="2000" dirty="0"/>
              <a:t>Improvement over baseline: +1.2%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0"/>
            <a:ext cx="6960560" cy="810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/>
              <a:t>AACPL improves </a:t>
            </a:r>
            <a:r>
              <a:rPr sz="2000" dirty="0" err="1"/>
              <a:t>CoCoOp</a:t>
            </a:r>
            <a:r>
              <a:rPr sz="2000" dirty="0"/>
              <a:t> with minimal overhead.</a:t>
            </a:r>
          </a:p>
          <a:p>
            <a:pPr>
              <a:spcAft>
                <a:spcPts val="800"/>
              </a:spcAft>
            </a:pPr>
            <a:r>
              <a:rPr sz="2000" dirty="0"/>
              <a:t>Better semantic prompts + stable dual-branch training.</a:t>
            </a:r>
            <a:endParaRPr lang="en-US"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237</TotalTime>
  <Words>448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BASEL SAEED ALZAHRANI</cp:lastModifiedBy>
  <cp:revision>3</cp:revision>
  <dcterms:created xsi:type="dcterms:W3CDTF">2013-01-27T09:14:16Z</dcterms:created>
  <dcterms:modified xsi:type="dcterms:W3CDTF">2026-04-28T17:54:55Z</dcterms:modified>
  <cp:category/>
</cp:coreProperties>
</file>